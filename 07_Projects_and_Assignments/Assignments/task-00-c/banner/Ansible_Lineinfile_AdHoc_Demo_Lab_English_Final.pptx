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5118b4b97a49df" /><Relationship Type="http://schemas.openxmlformats.org/officeDocument/2006/relationships/extended-properties" Target="/docProps/app.xml" Id="R27eb099066b546f1" /><Relationship Type="http://schemas.openxmlformats.org/officeDocument/2006/relationships/officeDocument" Target="/ppt/presentation.xml" Id="Rab2e8f8497f94f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82802c9a154b31"/>
  </p:sldMasterIdLst>
  <p:notesMasterIdLst>
    <p:notesMasterId xmlns:r="http://schemas.openxmlformats.org/officeDocument/2006/relationships" r:id="R264cbdf1cc4e462f"/>
  </p:notesMasterIdLst>
  <p:sldIdLst>
    <p:sldId xmlns:r="http://schemas.openxmlformats.org/officeDocument/2006/relationships" id="256" r:id="R3cf713b8501940ed"/>
    <p:sldId xmlns:r="http://schemas.openxmlformats.org/officeDocument/2006/relationships" id="257" r:id="Rd116d875ba6a45dc"/>
    <p:sldId xmlns:r="http://schemas.openxmlformats.org/officeDocument/2006/relationships" id="258" r:id="R20d937719fc7491c"/>
    <p:sldId xmlns:r="http://schemas.openxmlformats.org/officeDocument/2006/relationships" id="259" r:id="R766c092293c241df"/>
    <p:sldId xmlns:r="http://schemas.openxmlformats.org/officeDocument/2006/relationships" id="260" r:id="R6633c721468c4cc2"/>
    <p:sldId xmlns:r="http://schemas.openxmlformats.org/officeDocument/2006/relationships" id="261" r:id="R7cb5fec28a7e42ea"/>
    <p:sldId xmlns:r="http://schemas.openxmlformats.org/officeDocument/2006/relationships" id="262" r:id="R35dd857463194ba7"/>
    <p:sldId xmlns:r="http://schemas.openxmlformats.org/officeDocument/2006/relationships" id="263" r:id="Rc2357f1e7ef84321"/>
    <p:sldId xmlns:r="http://schemas.openxmlformats.org/officeDocument/2006/relationships" id="264" r:id="R00e51967ded64da6"/>
    <p:sldId xmlns:r="http://schemas.openxmlformats.org/officeDocument/2006/relationships" id="265" r:id="R2e0290912ac64da5"/>
    <p:sldId xmlns:r="http://schemas.openxmlformats.org/officeDocument/2006/relationships" id="266" r:id="R9b7e78c77dee42a0"/>
    <p:sldId xmlns:r="http://schemas.openxmlformats.org/officeDocument/2006/relationships" id="267" r:id="R92f60d1018f84698"/>
    <p:sldId xmlns:r="http://schemas.openxmlformats.org/officeDocument/2006/relationships" id="268" r:id="R0616a921d4bb4840"/>
    <p:sldId xmlns:r="http://schemas.openxmlformats.org/officeDocument/2006/relationships" id="269" r:id="R0e5c2ef7d8da4bd6"/>
    <p:sldId xmlns:r="http://schemas.openxmlformats.org/officeDocument/2006/relationships" id="270" r:id="R78b1a6a61dfc4fb9"/>
    <p:sldId xmlns:r="http://schemas.openxmlformats.org/officeDocument/2006/relationships" id="271" r:id="R09496423c18541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abfbb650fa40d6" /><Relationship Type="http://schemas.openxmlformats.org/officeDocument/2006/relationships/slideMaster" Target="/ppt/slideMasters/slideMaster1.xml" Id="Rcb82802c9a154b31" /><Relationship Type="http://schemas.openxmlformats.org/officeDocument/2006/relationships/notesMaster" Target="/ppt/notesMasters/notesMaster1.xml" Id="R264cbdf1cc4e462f" /><Relationship Type="http://schemas.openxmlformats.org/officeDocument/2006/relationships/presProps" Target="/ppt/presProps.xml" Id="R475fbd988b6f43c3" /><Relationship Type="http://schemas.openxmlformats.org/officeDocument/2006/relationships/tableStyles" Target="/ppt/tableStyles.xml" Id="R6203af14304f4248" /><Relationship Type="http://schemas.openxmlformats.org/officeDocument/2006/relationships/slide" Target="/ppt/slides/slide1.xml" Id="R3cf713b8501940ed" /><Relationship Type="http://schemas.openxmlformats.org/officeDocument/2006/relationships/slide" Target="/ppt/slides/slide2.xml" Id="Rd116d875ba6a45dc" /><Relationship Type="http://schemas.openxmlformats.org/officeDocument/2006/relationships/slide" Target="/ppt/slides/slide3.xml" Id="R20d937719fc7491c" /><Relationship Type="http://schemas.openxmlformats.org/officeDocument/2006/relationships/slide" Target="/ppt/slides/slide4.xml" Id="R766c092293c241df" /><Relationship Type="http://schemas.openxmlformats.org/officeDocument/2006/relationships/slide" Target="/ppt/slides/slide5.xml" Id="R6633c721468c4cc2" /><Relationship Type="http://schemas.openxmlformats.org/officeDocument/2006/relationships/slide" Target="/ppt/slides/slide6.xml" Id="R7cb5fec28a7e42ea" /><Relationship Type="http://schemas.openxmlformats.org/officeDocument/2006/relationships/slide" Target="/ppt/slides/slide7.xml" Id="R35dd857463194ba7" /><Relationship Type="http://schemas.openxmlformats.org/officeDocument/2006/relationships/slide" Target="/ppt/slides/slide8.xml" Id="Rc2357f1e7ef84321" /><Relationship Type="http://schemas.openxmlformats.org/officeDocument/2006/relationships/slide" Target="/ppt/slides/slide9.xml" Id="R00e51967ded64da6" /><Relationship Type="http://schemas.openxmlformats.org/officeDocument/2006/relationships/slide" Target="/ppt/slides/slide10.xml" Id="R2e0290912ac64da5" /><Relationship Type="http://schemas.openxmlformats.org/officeDocument/2006/relationships/slide" Target="/ppt/slides/slide11.xml" Id="R9b7e78c77dee42a0" /><Relationship Type="http://schemas.openxmlformats.org/officeDocument/2006/relationships/slide" Target="/ppt/slides/slide12.xml" Id="R92f60d1018f84698" /><Relationship Type="http://schemas.openxmlformats.org/officeDocument/2006/relationships/slide" Target="/ppt/slides/slide13.xml" Id="R0616a921d4bb4840" /><Relationship Type="http://schemas.openxmlformats.org/officeDocument/2006/relationships/slide" Target="/ppt/slides/slide14.xml" Id="R0e5c2ef7d8da4bd6" /><Relationship Type="http://schemas.openxmlformats.org/officeDocument/2006/relationships/slide" Target="/ppt/slides/slide15.xml" Id="R78b1a6a61dfc4fb9" /><Relationship Type="http://schemas.openxmlformats.org/officeDocument/2006/relationships/slide" Target="/ppt/slides/slide16.xml" Id="R09496423c18541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8655c0ea4c4e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1c6dd8177f49d3" /><Relationship Type="http://schemas.openxmlformats.org/officeDocument/2006/relationships/notesMaster" Target="/ppt/notesMasters/notesMaster1.xml" Id="R1b0b963da1754c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b343ccbe0d4069" /><Relationship Type="http://schemas.openxmlformats.org/officeDocument/2006/relationships/notesMaster" Target="/ppt/notesMasters/notesMaster1.xml" Id="R36f1a194285648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e8c4f8d29d4cae" /><Relationship Type="http://schemas.openxmlformats.org/officeDocument/2006/relationships/notesMaster" Target="/ppt/notesMasters/notesMaster1.xml" Id="Rf3b1f7769c314c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1d1d86a6374988" /><Relationship Type="http://schemas.openxmlformats.org/officeDocument/2006/relationships/notesMaster" Target="/ppt/notesMasters/notesMaster1.xml" Id="R2276616db6e944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aa7dc3c760488e" /><Relationship Type="http://schemas.openxmlformats.org/officeDocument/2006/relationships/notesMaster" Target="/ppt/notesMasters/notesMaster1.xml" Id="Rf532a5b5ed874e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89e0c1e51c4178" /><Relationship Type="http://schemas.openxmlformats.org/officeDocument/2006/relationships/notesMaster" Target="/ppt/notesMasters/notesMaster1.xml" Id="R6c8a18b5ac5f4e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28d35f6bb247a8" /><Relationship Type="http://schemas.openxmlformats.org/officeDocument/2006/relationships/notesMaster" Target="/ppt/notesMasters/notesMaster1.xml" Id="Rde2e0bea9c9f45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9480186274497b" /><Relationship Type="http://schemas.openxmlformats.org/officeDocument/2006/relationships/notesMaster" Target="/ppt/notesMasters/notesMaster1.xml" Id="Re436bcc8b6344c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e4cee1947c41f8" /><Relationship Type="http://schemas.openxmlformats.org/officeDocument/2006/relationships/notesMaster" Target="/ppt/notesMasters/notesMaster1.xml" Id="R3fccd9d2b32b43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a9677288054fdc" /><Relationship Type="http://schemas.openxmlformats.org/officeDocument/2006/relationships/notesMaster" Target="/ppt/notesMasters/notesMaster1.xml" Id="R4007c8c6d77846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9304f77672456e" /><Relationship Type="http://schemas.openxmlformats.org/officeDocument/2006/relationships/notesMaster" Target="/ppt/notesMasters/notesMaster1.xml" Id="R2b1dc297808c41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8181ec805e4a80" /><Relationship Type="http://schemas.openxmlformats.org/officeDocument/2006/relationships/notesMaster" Target="/ppt/notesMasters/notesMaster1.xml" Id="Rc97fad8fbf284d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7dbabe478d4fdb" /><Relationship Type="http://schemas.openxmlformats.org/officeDocument/2006/relationships/notesMaster" Target="/ppt/notesMasters/notesMaster1.xml" Id="Ra6c5d88ae50744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ce015b81a14894" /><Relationship Type="http://schemas.openxmlformats.org/officeDocument/2006/relationships/notesMaster" Target="/ppt/notesMasters/notesMaster1.xml" Id="Ra5a36e7a269947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8e575329fe4de8" /><Relationship Type="http://schemas.openxmlformats.org/officeDocument/2006/relationships/notesMaster" Target="/ppt/notesMasters/notesMaster1.xml" Id="R5452bd85929245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a5ddcf79724817" /><Relationship Type="http://schemas.openxmlformats.org/officeDocument/2006/relationships/notesMaster" Target="/ppt/notesMasters/notesMaster1.xml" Id="Rdf6066f9890642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768765c9048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2e81553b0b49e9" /><Relationship Type="http://schemas.openxmlformats.org/officeDocument/2006/relationships/slideLayout" Target="/ppt/slideLayouts/slideLayout1.xml" Id="R88aa3cabf4b248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aa3cabf4b248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58ec926204b77" /><Relationship Type="http://schemas.openxmlformats.org/officeDocument/2006/relationships/notesSlide" Target="/ppt/notesSlides/notesSlide1.xml" Id="R0a54a8425f694b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37f856b004880" /><Relationship Type="http://schemas.openxmlformats.org/officeDocument/2006/relationships/notesSlide" Target="/ppt/notesSlides/notesSlide2.xml" Id="R3879d36d4abc4c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8cc82113f45e7" /><Relationship Type="http://schemas.openxmlformats.org/officeDocument/2006/relationships/notesSlide" Target="/ppt/notesSlides/notesSlide3.xml" Id="Rd0fb5bee97fe4d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cca41bb51420a" /><Relationship Type="http://schemas.openxmlformats.org/officeDocument/2006/relationships/notesSlide" Target="/ppt/notesSlides/notesSlide4.xml" Id="Rca9ca5844fcb42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c9ce36f894959" /><Relationship Type="http://schemas.openxmlformats.org/officeDocument/2006/relationships/notesSlide" Target="/ppt/notesSlides/notesSlide5.xml" Id="R44a302c233c64b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07e212f3f461a" /><Relationship Type="http://schemas.openxmlformats.org/officeDocument/2006/relationships/notesSlide" Target="/ppt/notesSlides/notesSlide6.xml" Id="Rbd4723ba8efb4c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98c8003df4578" /><Relationship Type="http://schemas.openxmlformats.org/officeDocument/2006/relationships/notesSlide" Target="/ppt/notesSlides/notesSlide7.xml" Id="R2b8fd7e17d974a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77669201d4ae9" /><Relationship Type="http://schemas.openxmlformats.org/officeDocument/2006/relationships/notesSlide" Target="/ppt/notesSlides/notesSlide8.xml" Id="R00bfe09eebea45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254447cb04873" /><Relationship Type="http://schemas.openxmlformats.org/officeDocument/2006/relationships/notesSlide" Target="/ppt/notesSlides/notesSlide9.xml" Id="Rbd81fd829cb549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d6dc7ec534911" /><Relationship Type="http://schemas.openxmlformats.org/officeDocument/2006/relationships/notesSlide" Target="/ppt/notesSlides/notesSlide10.xml" Id="R60201340cfec43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996f918854dd2" /><Relationship Type="http://schemas.openxmlformats.org/officeDocument/2006/relationships/notesSlide" Target="/ppt/notesSlides/notesSlide11.xml" Id="R65a4a1ed074a4e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c4075512b4836" /><Relationship Type="http://schemas.openxmlformats.org/officeDocument/2006/relationships/notesSlide" Target="/ppt/notesSlides/notesSlide12.xml" Id="Rb493ad94f13b48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668b1c761498f" /><Relationship Type="http://schemas.openxmlformats.org/officeDocument/2006/relationships/notesSlide" Target="/ppt/notesSlides/notesSlide13.xml" Id="Rb77f3b14b26e47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7f45b71184852" /><Relationship Type="http://schemas.openxmlformats.org/officeDocument/2006/relationships/notesSlide" Target="/ppt/notesSlides/notesSlide14.xml" Id="R9d92ee5a8c1847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54bf786a94321" /><Relationship Type="http://schemas.openxmlformats.org/officeDocument/2006/relationships/notesSlide" Target="/ppt/notesSlides/notesSlide15.xml" Id="Rdbaee32a94c245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7943735114569" /><Relationship Type="http://schemas.openxmlformats.org/officeDocument/2006/relationships/notesSlide" Target="/ppt/notesSlides/notesSlide16.xml" Id="Ra74269973a694d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71DCD-959E-4248-A624-E63CE6A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C5E9B-DA67-48BF-9581-647BD0B4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HANDS-ON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A6193-AE61-4567-A54A-AEE71C75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Ansible lineinfile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6FE84-07AE-444E-B8A6-9B011E38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42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0A5FA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60A5FA"/>
                </a:solidFill>
                <a:latin typeface="DejaVu Sans"/>
                <a:ea typeface="DejaVu Sans"/>
                <a:cs typeface="DejaVu Sans"/>
              </a:rPr>
              <a:t>Ad-Hoc Demo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F33E1-A96D-4C10-BDFA-9F003E26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Manage individual lines across node1, node2, and node3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04157-F050-479F-98BA-5BABF65E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04900"/>
            <a:ext cx="3238500" cy="4095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7BA9F-04F1-43D0-9D4A-87B410C3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EB563-7867-41D0-9606-6EC0C3B2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three_tier_app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E93E1-CCD1-4B5F-BFAA-9FAD227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C944B-09E5-4790-B23F-0063870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lineinfile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A472D-BD22-4E57-9D77-CADCAFFB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LAB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CC294-7F74-487F-B55A-5C075D10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/tmp/ansible-module-lab/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lineinfile-demo.txt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CBAD5-84C0-40FC-BA31-D10201D1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English classroom 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9B760-6B11-4BE1-970C-1AB92E19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8EF18-0E2B-4DB1-A0EF-16EE2F25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7742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EF578-90E2-4939-A362-539A5052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37ACE-7372-4616-85DD-F881ED13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AD4FB-4369-4A4C-91BA-F626C198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The skills demonstrated in this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5E72E-6E6A-4F16-82D8-72EF2727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7E68E-5679-4090-AD44-C94062AB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7FFF1-FCEF-4E34-95FD-3A5D6D63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B2BF9-1771-4591-AAD2-1592BCA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859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3781F-05B3-4BF5-9C9C-46E62B7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859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Create a repeatable practice 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B2DBA-1423-4115-A136-0EE151E4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08CFD-6774-4E22-8CA1-19E68D3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70D8A-1283-4E34-BE71-115AC6F8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527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Insert lines at BOF, EOF, or after a 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947E4-6826-4EB7-9A78-D353660A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A48EF-482C-42E0-981E-95EA7B0F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95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B7757-349E-4952-8578-49F8E2B6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95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Use regex to manage settings such as #Banner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FFBAE-A616-4CC8-9E8A-3B8AB4C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A2A52-B756-4120-8A74-2E428470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044B3-C51F-468A-AE47-DD79E063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863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Verify idempotency and clean up safely</a:t>
            </a:r>
          </a:p>
        </p:txBody>
      </p:sp>
    </p:spTree>
    <p:extLst>
      <p:ext uri="{BB962C8B-B14F-4D97-AF65-F5344CB8AC3E}">
        <p14:creationId xmlns:p14="http://schemas.microsoft.com/office/powerpoint/2010/main" val="1177315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69A81-61FE-4C49-A016-49380B69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Lab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0905F-CC56-4256-B5E4-6FA5A30C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BEA38-6A7E-4CDA-BCB0-5F546F12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Run the same operation against three Rocky Linux managed nodes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374EC-8B68-4870-817D-C4C36DA7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DF7CA-0BC2-4B51-8444-B82AC61C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7F7B2-338D-41DC-8B0B-172CC9C4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857500" cy="4000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3A510-706D-4ECD-B447-EBEC547B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41E22-02CC-481D-BE48-1F5D6859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5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CONTROL 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83CE2-A0E8-4744-A02D-5DBFC4E2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ansible-server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5A8D4-B674-4FB2-868B-EB2F76F9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8B4C7"/>
                </a:solidFill>
                <a:latin typeface="DejaVu Sans Mono"/>
                <a:ea typeface="DejaVu Sans Mono"/>
                <a:cs typeface="DejaVu Sans Mono"/>
              </a:rPr>
              <a:t>User: ansibleadmin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3EEED-18EF-4F5A-879B-7D01AF8C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324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17502-65FF-4047-AF72-2022A703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-m 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4F0F7-F01E-4CD3-8FEC-D63C7552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621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AAE13-3115-4CD1-91BA-209E197A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145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node1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38091-AFD7-4AD5-8A34-7C7DDC9F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managed node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1E1C1-9C7A-40BB-B3E2-247DA5EA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956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B1801-428A-4E93-82E9-94FEFFAB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node2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0DF4F-DFDC-416F-9A77-D2FE5FA0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48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managed node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FD3E9-ECDC-4247-9A62-9A3114DB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291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FAA72-F661-4607-BC5A-6B1D354D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815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node3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56BA7E-3756-4B40-BE72-F41E9A71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managed node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F5C91-6E10-49C7-881A-EBA64CB0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3276600" cy="3657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E23B3-7562-4C7A-8AD8-4DEBB178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47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PRACTICE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0E806-C5B3-4AE6-8BC1-73623447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/tmp/ansible-module-lab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9C876C-BF73-4515-B569-8DFB1A87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FILE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703023-811E-4923-AAE9-65D00280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lineinfile-demo.txt</a:t>
            </a:r>
          </a:p>
        </p:txBody>
      </p:sp>
    </p:spTree>
    <p:extLst>
      <p:ext uri="{BB962C8B-B14F-4D97-AF65-F5344CB8AC3E}">
        <p14:creationId xmlns:p14="http://schemas.microsoft.com/office/powerpoint/2010/main" val="932910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6C12A-92B4-47D4-AA7C-76A7DCA1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What lineinfile manages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BAF32-5A89-4523-AF51-D77EC2AE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EA77C-BE68-4A63-9036-475A90D2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One module for adding, replacing, or removing individual 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822B8-587D-46ED-B9D0-1ADCFE05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8C88E-79B2-4BF1-A9C1-BD358A0B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CB192-0997-48DE-B040-23848707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78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lineinfile keeps a text file in the requested line-level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E4C77-A0B0-457D-B38E-33DF381A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506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EEB4C-0661-4C77-9BA4-CC7DF1C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1EE1E-8901-43FB-9ADB-0452BA2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Target file on the managed 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6C242-DF4E-43C0-8A17-D9C5E69C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506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C5496-26E0-4AF6-BCA0-928E61CD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A532D-74F1-4314-9A22-E154B202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Text that should be present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D729A-339D-4247-9A04-04840D90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506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A7CC0-F9C0-4922-897E-8ABCB0E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regexp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CA556-6D47-4065-A6AC-43A4ED5F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Pattern that identifies an existing 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ABA58-A6A8-49FA-AFE2-4BC95EE9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506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EC2BE-D791-4514-BB39-A94B99EE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9ECD6-8D01-4CA1-B8A2-DAF4162C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present adds or updates; absent removes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D5D06-7D15-4EAB-B623-EC72E770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95650"/>
            <a:ext cx="506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C940E-E18F-435C-A8CC-F8CBAE7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backup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D41CA-12E4-4280-9E95-B146B280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9570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Creates a timestamped copy before a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372C4-ACD4-428E-B579-2F0EE187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52950"/>
            <a:ext cx="5067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930FF-7276-492A-B6C5-8282ADAF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ansible-doc -s lineinfile</a:t>
            </a:r>
          </a:p>
        </p:txBody>
      </p:sp>
    </p:spTree>
    <p:extLst>
      <p:ext uri="{BB962C8B-B14F-4D97-AF65-F5344CB8AC3E}">
        <p14:creationId xmlns:p14="http://schemas.microsoft.com/office/powerpoint/2010/main" val="1546242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7D6058-F086-4ECF-B12C-18E4E1A5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Three syntax corrections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50AFB-E4BE-4342-89AE-2DB4E095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22917-5A3C-4B51-807A-E0D31C14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Use the option that matches the intended location or resource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B0891-8881-4813-BAAC-047473E3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2C2BC-2CCC-43C3-AAC3-08D7E79B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6A885-430A-48D6-9B59-FD121D89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38405-B563-4375-AC43-C61439A1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Beginning of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5CA60-4642-449F-A53D-95232EF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573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ACBE8-E1EE-4901-80CF-5CDB255D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EE522-4D5F-46C2-9C32-E5AB84D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38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insertbefore=BOF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14775-1A75-4FF0-BE61-87D0B08E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A7F22-D84B-4FC5-85E9-D3EEBC54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AVOID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1FE90-6A12-4B5C-9BD4-62551169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19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6B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6B6B"/>
                </a:solidFill>
                <a:latin typeface="DejaVu Sans Mono"/>
                <a:ea typeface="DejaVu Sans Mono"/>
                <a:cs typeface="DejaVu Sans Mono"/>
              </a:rPr>
              <a:t>insertafter=BOF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F6E5F-3458-49B8-B6EB-10A36BA0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717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BOF means Beginning of 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6140D-E6C9-4D3D-B11B-F0400AAD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858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40392-C377-4649-9B6C-EC8146AB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End of 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AA942-B8F6-4B1B-B2B4-4529750C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2A098-0865-4BE6-98C3-96CE7EA8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5752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CORRECT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3531F-F443-44BD-9C3C-23C82163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insertafter=EOF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A57A0-A9CD-453B-9903-C2C70121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6FC4D-ECD8-472E-9451-F8BC402F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AVOID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85BA9-E1AD-432F-95D8-CB038624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6B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6B6B"/>
                </a:solidFill>
                <a:latin typeface="DejaVu Sans Mono"/>
                <a:ea typeface="DejaVu Sans Mono"/>
                <a:cs typeface="DejaVu Sans Mono"/>
              </a:rPr>
              <a:t>insertbefore=EOF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6A09C-879D-4836-89B4-88AAD03C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EOF means End of File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46725-9B75-4333-A82A-1DF7F612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0858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0D368E-F0AA-4ACE-829E-3A431540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Delete the file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1D99B-860B-4D94-B046-3413530F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18DE7-0479-4335-81CD-8395379F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481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CORRECT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9A696D-4ACA-4445-82D1-7A6D4DCB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9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file  state=absent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8EAEB7-75BB-4809-B718-1AF0D2CA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9DF6F6-79C1-459B-8625-0F0FB6A5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481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AVOID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355CCD-0935-4C5A-88E5-CBD1983B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00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6B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6B6B"/>
                </a:solidFill>
                <a:latin typeface="DejaVu Sans Mono"/>
                <a:ea typeface="DejaVu Sans Mono"/>
                <a:cs typeface="DejaVu Sans Mono"/>
              </a:rPr>
              <a:t>lineinfile removes only lines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285588-2B1B-481C-BFC0-5BA9C35C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530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Choose the module that owns the resource</a:t>
            </a:r>
          </a:p>
        </p:txBody>
      </p:sp>
    </p:spTree>
    <p:extLst>
      <p:ext uri="{BB962C8B-B14F-4D97-AF65-F5344CB8AC3E}">
        <p14:creationId xmlns:p14="http://schemas.microsoft.com/office/powerpoint/2010/main" val="1025781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42F8F-1A3A-42FB-95DE-F41B5986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Lab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19368-95B7-4451-8DD0-E19FD207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C3014-06FE-4910-91D1-5E680BEC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Create the directory and seed the initial 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CA308-051B-4797-8B6B-56FB642F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C1319-B545-4C3A-A40F-271C8955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95C1F-8C3B-4A95-80A4-879DEE83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7EE1C-350D-4457-9A5D-DEF886FF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8C81B-1E98-40E2-95FD-3E7BEDA8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428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Create the practice directory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E0090-4D23-4F15-BB58-917C9856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7B254-53C8-42B0-8010-7FA241D4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file -a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"path=/tmp/ansible-module-lab state=directory mode=0755"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CE0D5-9F1B-4A38-9B75-38DE5121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3625B-A26C-42F3-8114-7C4546D8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STEP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6DD64-D990-462D-B415-648A2DF8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Create a two-line practice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C6B7B-2127-4DCF-BDE2-081C3926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F5712-4C8C-4217-BCED-FAA52DB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copy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'content="This is the starting line.\nCourse: Ansible Basics\n"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dest=/tmp/ansible-module-lab/lineinfile-demo.txt mode=0644'</a:t>
            </a:r>
          </a:p>
        </p:txBody>
      </p:sp>
    </p:spTree>
    <p:extLst>
      <p:ext uri="{BB962C8B-B14F-4D97-AF65-F5344CB8AC3E}">
        <p14:creationId xmlns:p14="http://schemas.microsoft.com/office/powerpoint/2010/main" val="53535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CE6B2-1138-422F-8A60-65DB1DB2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Lines at the beginning and 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037B0-697F-49D6-8D1B-BF8C0F30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26BBA-E128-4AF9-8626-A359F33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BOF and EOF provide predictable insertion points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0BAA4-BFB6-4E2D-8B30-E582485E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B2487-6E57-494B-A00E-8B835331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3545D-3D30-4CCD-A19C-338B3C9C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3530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6ADAB-E6DF-4991-B678-480F7301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7875E-213B-4B66-989B-CD048D6A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43075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BOF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06431-6209-43EA-9972-41EC2878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14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Beginning of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B31BA-F00B-402D-B4A9-B6863267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857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29290-DB5B-4E95-9722-F2429AD5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lineinfile -a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'path=/tmp/ansible-module-lab/lineinfile-demo.txt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line="Welcome to the Ansible lab."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insertbefore=BOF state=present'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A0D80-C56F-4C6A-8BFB-CEF7ABCD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Result: the welcome line becomes line 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B59F6-E073-4CFF-A6F9-FD441AB4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3530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E2ABF-0AF3-417E-A79B-6E5823E1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99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DD4A8-A53F-4018-B05F-E9EDAC45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43075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EOF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BCAEA-59AE-4263-9A6D-F913D8EF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14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End of 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B5965-DAD2-444F-9F7E-5CF9A642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4857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19B82-1FE3-4EA8-BD25-91FADBFA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lineinfile -a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'path=/tmp/ansible-module-lab/lineinfile-demo.txt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line="Thanks for completing the practice."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insertafter=EOF state=present'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F3069-B907-4C0A-A1AD-AFAD8F7A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Result: the thank-you line becomes the final line.</a:t>
            </a:r>
          </a:p>
        </p:txBody>
      </p:sp>
    </p:spTree>
    <p:extLst>
      <p:ext uri="{BB962C8B-B14F-4D97-AF65-F5344CB8AC3E}">
        <p14:creationId xmlns:p14="http://schemas.microsoft.com/office/powerpoint/2010/main" val="1074865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F7BE2-FDB5-456A-8828-0DD44A44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Insert after a matching keyword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10245-95F2-46CD-AB50-5E18F63A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DB4DD-B92F-4E9B-A8CA-E0060C36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The regular expression selects the anchor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F041B-7B58-4322-A320-EFD5F82F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AD538-A9AB-4F47-98F2-296DBC76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85A91-9406-4F17-B282-5201E4B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7823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ED0F7-3444-45C5-AFAD-62B4FC85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0439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lineinfile -a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'path=/tmp/ansible-module-lab/lineinfile-demo.txt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insertafter="^Course:"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line="Lab group: three_tier_app" state=present'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CDE01-CF9A-4258-8D40-25A20B9A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5048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8A42E-29F5-460B-9BEC-BF2D5BE7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03E10-C574-450D-AB43-5F3AEBDE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^Course: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3D44F-322A-4FD8-A074-344E6C46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Find a line that starts with Course: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4DC2A-6AAC-46BD-9FCD-45271C31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53530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7BD34-35EF-4BBB-8DE4-75EB5707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60A5FA"/>
                </a:solidFill>
                <a:latin typeface="DejaVu Sans"/>
                <a:ea typeface="DejaVu Sans"/>
                <a:cs typeface="DejaVu Sans"/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7A675-360A-4191-BDBE-55D15D4F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474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Course: Ansible Basics</a:t>
            </a:r>
          </a:p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Lab group: three_tier_app</a:t>
            </a:r>
          </a:p>
        </p:txBody>
      </p:sp>
    </p:spTree>
    <p:extLst>
      <p:ext uri="{BB962C8B-B14F-4D97-AF65-F5344CB8AC3E}">
        <p14:creationId xmlns:p14="http://schemas.microsoft.com/office/powerpoint/2010/main" val="11078556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AB4EC-9AED-41E1-9E8F-0684E0C4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Replace an existing 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5362E-EBE7-42BB-80A1-BC367819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EE55A-BC0E-4CA6-8C21-9FCBD9A7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regexp finds the line; line defines the desired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C3032-C89E-4574-B6F0-6E59E850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14EFE-1492-4AD4-BA0F-8871EAB2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30582-D314-4A59-9E18-1C9AAA76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782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BA9B3-5922-4381-93CA-B6A4BECD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0439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lineinfile -a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'path=/tmp/ansible-module-lab/lineinfile-demo.txt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regexp="^Course:" line="Course: Ansible Automation"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state=present backup=yes'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84116-5D1C-4FE4-9CB8-25A9DA7D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953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24FBD-0254-4F5A-A0D1-9C7F3764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1104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9525">
            <a:solidFill>
              <a:srgbClr val="F4C9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0C6EC-17B1-4632-978D-08512AB8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6AA4C-0B59-4305-8F0C-CD1D8108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Course: Ansible Basics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EC763-1E86-474A-B1AE-07025FA1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4953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40FF7-FC05-4564-8C16-AFA4D413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1104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9A3F2-0DFC-4818-8FF9-3BB68739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3857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AFTER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8CC9A-30DD-495B-898D-E1B0E34F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Course: Ansible Automation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0EADF-2093-43FD-BE76-C71E93E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backup=yes preserves the previous file before Ansible changes it.</a:t>
            </a:r>
          </a:p>
        </p:txBody>
      </p:sp>
    </p:spTree>
    <p:extLst>
      <p:ext uri="{BB962C8B-B14F-4D97-AF65-F5344CB8AC3E}">
        <p14:creationId xmlns:p14="http://schemas.microsoft.com/office/powerpoint/2010/main" val="806403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6BCBD-2655-4690-B9C5-8986C29F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Remove one 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BF565-2847-4144-8EAC-18ECC805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0A8AA-500E-40CB-A3C7-E419D945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Choose regexp for a pattern or line for an exact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74D74-E5DE-4EE4-9468-64920341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1EBB6-0BCD-4533-9744-75E95F1F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8D08A-E896-447B-B667-D83850D8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535305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B6865-9908-462B-8223-3223714D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200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FF01E-2B6C-40ED-9911-06736A91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20A7F-B5AC-45DB-9966-AE24A9AC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Remove any line that starts with Lab group: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84423-1941-4264-83DA-00C1832D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857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ABEAE-171C-43A8-89A8-D4488924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4514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lineinfile -a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'path=/tmp/ansible-module-lab/lineinfile-demo.txt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regexp="^Lab group:" state=absent'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CA598-52CB-4843-9627-A69F9185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85900"/>
            <a:ext cx="535305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7BE37-8501-4CB6-A214-B3E46FA1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3355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9525">
            <a:solidFill>
              <a:srgbClr val="F4C9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06593-C551-4F32-9144-672AEBB1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430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EXACT 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B5A31-5C02-4236-A7A0-ADE5A3C1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Remove one exact sentence: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3C74A-8213-4F62-8194-F5BB1919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48577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7C2CA-508D-4769-86D3-077066E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4514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lineinfile -a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'path=/tmp/ansible-module-lab/lineinfile-demo.txt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line="Thanks for completing the practice."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state=absent'</a:t>
            </a:r>
          </a:p>
        </p:txBody>
      </p:sp>
    </p:spTree>
    <p:extLst>
      <p:ext uri="{BB962C8B-B14F-4D97-AF65-F5344CB8AC3E}">
        <p14:creationId xmlns:p14="http://schemas.microsoft.com/office/powerpoint/2010/main" val="10958669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A30C2-BE75-4220-BAB9-4AE6872F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Idempotency in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1E8A2-F9CF-4EB8-9655-1FF2AF82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E45D2-3F75-4AE6-B939-A8FB5239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The second run confirms that the requested state already exists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0605D-85C3-48DD-8A8F-694ABD7F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CBB29-389A-45E9-ADAA-E6AEC05A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63D5F-A626-4E24-97F0-4846D434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10782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80418-CB8A-4A74-88F2-352B902A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10439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lineinfile -a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'path=/tmp/ansible-module-lab/lineinfile-demo.txt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line="Welcome to the Ansible lab."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insertbefore=BOF state=present'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49515-9A17-415E-B0FF-DA7FC3AD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4095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4DD88-4865-4F81-90C3-02BFD701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1295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2B981-4C18-43A3-80D4-26145ECF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FIRST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AEB9B-32E2-4E91-9769-367F7C12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changed: 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F424D-0E9A-48AF-B435-BF316EB0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62350"/>
            <a:ext cx="4095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CE54E-1F1A-4537-890A-37DC43D1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71900"/>
            <a:ext cx="1466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2E438-D31F-44CC-BF0B-CA7513B8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814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SECOND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0A47F-CA9A-4A91-A42B-81934302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24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changed: false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7D303-834D-45DD-BA0A-BFBE4F37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91150"/>
            <a:ext cx="922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The module does not duplicate a line that is already present.</a:t>
            </a:r>
          </a:p>
        </p:txBody>
      </p:sp>
    </p:spTree>
    <p:extLst>
      <p:ext uri="{BB962C8B-B14F-4D97-AF65-F5344CB8AC3E}">
        <p14:creationId xmlns:p14="http://schemas.microsoft.com/office/powerpoint/2010/main" val="104081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13F2C-9FD9-44CD-802B-5E7D8BED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Regular expression basics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A08E6-AD68-453A-9433-626C65F8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B1AB8-642E-45A8-8D74-87A98818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Anchor the match so Ansible changes the intended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55D8A-C559-4A83-A9EE-7D887F60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E8D37-21F9-4469-A2CD-4912936D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0A1F2-C472-4748-8E5D-0F04B2F3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36C94-EB98-436A-B4F0-DC75F67D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^Course: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5BF2F-40E5-4AFD-8C3E-6C26CD4E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764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The caret ^ requires Course: at the beginning of the 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186CF-F5F4-444B-A9AA-3CC5426D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51435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D1108-9B14-4C39-942B-6646D9C4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1239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2E569-F608-4123-A41B-97EE9D69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MATCHES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4026A-95E6-4E0C-8CAD-5AC5CAC0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Course: Ansible Basics</a:t>
            </a:r>
          </a:p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Course: Ansible Automation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29B34-6A5D-4B26-A89E-7A5F8205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51435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7A2E4-CF1A-4CB6-8594-8BAE38D5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676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C52E2-7201-45DE-8B65-B30E21FE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DOES NOT 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2EBF3-0318-49EC-8578-87E0CD6A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My Course: Ansible Basics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9D676-A512-43B7-B66C-FC8C42B0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 specific pattern reduces accidental edits.</a:t>
            </a:r>
          </a:p>
        </p:txBody>
      </p:sp>
    </p:spTree>
    <p:extLst>
      <p:ext uri="{BB962C8B-B14F-4D97-AF65-F5344CB8AC3E}">
        <p14:creationId xmlns:p14="http://schemas.microsoft.com/office/powerpoint/2010/main" val="18339008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4D3CE-6279-4A90-BA40-16AC7C9F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 Banner regex anatomy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290F8-AB80-46C1-A2C6-DF57FB4C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6640D-996D-41C5-8532-6BFF60C1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One pattern can match commented or active Banner directives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C6D70-54E4-4018-A165-4182FC2A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47225-4F6B-4585-ABB8-8BC5F2CD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27116-87FC-4751-BB39-8861F7B3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2C9BB-924E-4E6E-8414-0FE0B94F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^\s*#?\s*Banner\s+.*$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D4BAA-5916-4B0B-99CD-301E45E6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^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93FED-13C3-47B0-9264-0126BFB8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47950"/>
            <a:ext cx="3943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Beginning of the 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A9238-06D9-4EC4-985D-0649F20D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\s*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5767A-5964-4C9B-AE83-499C7AF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24250"/>
            <a:ext cx="3943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Zero or more whitespace characters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69453-331D-4C74-85C9-A51DD773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#?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F2950-218F-4D5D-8DF1-927BF24E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00550"/>
            <a:ext cx="3943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An optional # comment character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A912C-31DC-4696-8E0E-0B9A5379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rPr>
              <a:t>Banner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2727A-CB46-42E3-8A1A-7039B593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3943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The exact SSH directive name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D42E3-D805-4B77-B199-424669A1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rPr>
              <a:t>\s+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3DFDD-6D2E-4220-AC6D-9F03BA42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3943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One or more spaces after Banner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713E5-FFF9-4BF8-98D2-5C1A905B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rPr>
              <a:t>.*$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3766F-B57E-4527-B44E-E8F65735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00550"/>
            <a:ext cx="3943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The remaining value through the end of the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9EAD8-D1BD-4A1D-A40A-42657017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8B4C7"/>
                </a:solidFill>
                <a:latin typeface="DejaVu Sans Mono"/>
                <a:ea typeface="DejaVu Sans Mono"/>
                <a:cs typeface="DejaVu Sans Mono"/>
              </a:rPr>
              <a:t>Examples matched:  #Banner none     Banner none     # Banner /etc/issue.net</a:t>
            </a:r>
          </a:p>
        </p:txBody>
      </p:sp>
    </p:spTree>
    <p:extLst>
      <p:ext uri="{BB962C8B-B14F-4D97-AF65-F5344CB8AC3E}">
        <p14:creationId xmlns:p14="http://schemas.microsoft.com/office/powerpoint/2010/main" val="11557479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CEFCF-5B24-479C-AA1C-3DA485E9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 Banner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F4009-4A2C-47E4-AA63-3E895DC6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31C16-828F-4766-9E80-02F7B702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Replace a commented or active directive and validate the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D8012-B0FE-4265-B61D-26A3F593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6987C-31AE-4772-BE9C-21BDA2AE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70DB6-E618-42E5-A4AF-361CDD4C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CE62C-771A-48BE-A915-0F2E21E0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04775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lineinfile -a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'path=/etc/ssh/sshd_config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regexp="^\s*#?\s*Banner\s+.*$"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line="Banner /etc/ssh/banner.txt" state=present backup=yes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validate="/usr/sbin/sshd -t -f %s"'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61F12-AA80-4CB3-8129-ADED991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1054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DCB20-43AA-4DC3-A50D-6F7AF054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95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4C95D"/>
                </a:solidFill>
                <a:latin typeface="DejaVu Sans"/>
                <a:ea typeface="DejaVu Sans"/>
                <a:cs typeface="DejaVu Sans"/>
              </a:rPr>
              <a:t>POSSIBLE MATCHES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2EF02-0DB0-4311-8330-0555E3D2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#Banner none</a:t>
            </a:r>
          </a:p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# Banner /etc/issue.net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7C595-96AE-4E09-B12C-EDCCD258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62400"/>
            <a:ext cx="51054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7CA07-A123-4D9E-9B09-25387632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7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DESIRED 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1A94C-909B-4B2D-8D75-9D395C73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863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Banner /etc/ssh/banner.txt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30C12-0BD8-48E7-9568-47EDD2C7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validate checks the temporary SSH configuration before Ansible saves it.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If several lines match, lineinfile changes the last match. Use replace to change every match.</a:t>
            </a:r>
          </a:p>
        </p:txBody>
      </p:sp>
    </p:spTree>
    <p:extLst>
      <p:ext uri="{BB962C8B-B14F-4D97-AF65-F5344CB8AC3E}">
        <p14:creationId xmlns:p14="http://schemas.microsoft.com/office/powerpoint/2010/main" val="13786303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7803B-4DC4-4FDF-9C0F-B2853024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Verification and troubleshooting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9CBA5-56D4-4807-B576-0B24A75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197EB-4076-4DC0-B21F-CC8E0209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Inspect the file after every state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E496E-6315-4DC7-BFE7-EB3E726C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25766-C29A-4973-9AAE-19082DEA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3FE2B-06F4-41D0-979D-F1B4938D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42925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E0F55-D565-4DE5-8661-0C38FC1B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VERIFY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704AE-2394-42BC-8345-CE1A552C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933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8F872-1211-4EF7-874A-5E085378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59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command -a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"cat /tmp/ansible-module-lab/lineinfile-demo.txt"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4B1B3-FAB8-4900-83A6-3084E86E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933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E5BB5-7BAD-4B07-8CBD-93725430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459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stat -a \</a:t>
            </a:r>
          </a:p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"path=/tmp/ansible-module-lab/lineinfile-demo.txt"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45976-ABD2-44A1-A100-E93DF30A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3875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1A682-4855-4DBD-ABE1-B31D50AD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33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9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4C95D"/>
                </a:solidFill>
                <a:latin typeface="DejaVu Sans"/>
                <a:ea typeface="DejaVu Sans"/>
                <a:cs typeface="DejaVu Sans"/>
              </a:rPr>
              <a:t>COMMON ISSUES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5AE7B-2CD0-43F2-967B-0654AF3F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EA1E4-EFB7-474B-8A5D-112597D5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Missing file: add create=yes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8E531-0D7A-47C0-8993-4AE66C84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F8D7C-FBAD-48D2-8973-E7ADCC73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765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Permission denied: add -b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46E92-D8D1-4648-BAEF-DB199D06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433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A9DDD-F73B-4CD4-B9D7-8A627AF5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433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Wrong position: test the match expression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57DDD-B61B-42EF-B359-3FCB5649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80FB7-2FE4-4A6A-B713-2C4CC637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00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Many matches: consider the replace module</a:t>
            </a:r>
          </a:p>
        </p:txBody>
      </p:sp>
    </p:spTree>
    <p:extLst>
      <p:ext uri="{BB962C8B-B14F-4D97-AF65-F5344CB8AC3E}">
        <p14:creationId xmlns:p14="http://schemas.microsoft.com/office/powerpoint/2010/main" val="1570683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D04A0-50BE-4772-AF5B-1BDA93E5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Cleanup and independent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21043-9DB3-4F78-B121-D62C9FEC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BC71B-C296-41AD-A631-75C3765C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Finish the demonstration without leaving lab artifacts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82E98-3CB3-4DBB-94D9-B95741D2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lineinfile ad-hoc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9F476-F0BC-4532-AD0C-E8F7BD45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A6D80-C7D8-41D1-A95C-9A543487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42925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91E6C-54EC-4734-9893-9BAC4C79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6B"/>
                </a:solidFill>
                <a:latin typeface="DejaVu Sans"/>
                <a:ea typeface="DejaVu Sans"/>
                <a:cs typeface="DejaVu Sans"/>
              </a:rPr>
              <a:t>CLEANUP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2A89A-734F-4934-A598-85D16D98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9339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D813B-0CCA-42D1-88AB-F65F794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591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file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"path=/tmp/ansible-module-lab state=absent"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48001-98C2-41A3-88E7-46F14AA4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Run the cleanup command twice. The second run should report changed: false.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1D366-4483-4080-9074-A0EE7939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3875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2117D-1FE6-4C49-B664-C484FEFD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33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PRACTICE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6A3B0-A828-4BF4-A8DC-A0AED661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F1DE1-649F-44E2-BFD7-FD557B16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Test first with --limit node1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823C5-27CD-4A9F-A431-0F323AA4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BAAF4-7AC0-40ED-9A2B-1E788DFB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Add lines at BOF and EOF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EE66D-290C-422D-9333-24C925BE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718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796B1-3301-4B21-8FEE-C5696E7A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1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Replace Environment: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C3338-1CD9-4EE5-9F79-9E34141B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CCB71-3022-48E5-B77C-2A25FCAB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624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Remove a Temporary: 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60A67-E97D-4DF4-B8E4-C69FF390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529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EEB85-9FDB-4BA2-8816-90425499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529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Repeat against three_tier_app</a:t>
            </a:r>
          </a:p>
        </p:txBody>
      </p:sp>
    </p:spTree>
    <p:extLst>
      <p:ext uri="{BB962C8B-B14F-4D97-AF65-F5344CB8AC3E}">
        <p14:creationId xmlns:p14="http://schemas.microsoft.com/office/powerpoint/2010/main" val="877981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2026-09-23T04:07:02.1850000Z</dcterms:created>
  <dcterms:modified xsi:type="dcterms:W3CDTF">2026-09-23T04:07:02.1850000Z</dcterms:modified>
</coreProperties>
</file>